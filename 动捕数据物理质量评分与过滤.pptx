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4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5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3.png"/><Relationship Id="rId2" Type="http://schemas.openxmlformats.org/officeDocument/2006/relationships/video" Target="../media/media1.mp4"/><Relationship Id="rId16" Type="http://schemas.openxmlformats.org/officeDocument/2006/relationships/image" Target="../media/image7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2.png"/><Relationship Id="rId5" Type="http://schemas.microsoft.com/office/2007/relationships/media" Target="../media/media3.mp4"/><Relationship Id="rId15" Type="http://schemas.openxmlformats.org/officeDocument/2006/relationships/image" Target="../media/image6.png"/><Relationship Id="rId10" Type="http://schemas.openxmlformats.org/officeDocument/2006/relationships/notesSlide" Target="../notesSlides/notesSlide3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动捕数据物理质量评分与过滤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Quality Scoring &amp; Filtering 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G1 人形机器人  ·  SOMA 动捕格式  ·  MJX GPU 加速评分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SONIC Motion Pipeline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背景与动机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943600" y="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 FILTERING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原始动捕数据存在大量物理不可行的动作片段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常见问题包括：脚部穿透地面、关节速度超限、身体自碰撞、动作悬空等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直接使用未经筛选的数据训练策略，会导致仿真中机器人行为异常甚至崩溃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基于物理仿真的自动质量评分系统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MuJoCo MJX (JAX后端) 进行 GPU 加速的批量物理可行性检测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自动过滤低质量动作，仅保留物理合理的动捕片段用于策略训练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solidFill>
            <a:srgbClr val="0D9488">
              <a:alpha val="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video2motion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943600" y="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 FILTERING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solidFill>
            <a:srgbClr val="0D9488">
              <a:alpha val="0"/>
            </a:srgbClr>
          </a:solidFill>
          <a:ln/>
        </p:spPr>
      </p:sp>
      <p:pic>
        <p:nvPicPr>
          <p:cNvPr id="15" name="0_3_incam_global_horiz">
            <a:hlinkClick r:id="" action="ppaction://media"/>
            <a:extLst>
              <a:ext uri="{FF2B5EF4-FFF2-40B4-BE49-F238E27FC236}">
                <a16:creationId xmlns:a16="http://schemas.microsoft.com/office/drawing/2014/main" id="{CD17F18A-8EC7-9591-6499-503FB254C1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13530" y="1338468"/>
            <a:ext cx="5371510" cy="2312956"/>
          </a:xfrm>
          <a:prstGeom prst="rect">
            <a:avLst/>
          </a:prstGeom>
        </p:spPr>
      </p:pic>
      <p:pic>
        <p:nvPicPr>
          <p:cNvPr id="16" name="-_4dD5AzS7M_001229_001239">
            <a:hlinkClick r:id="" action="ppaction://media"/>
            <a:extLst>
              <a:ext uri="{FF2B5EF4-FFF2-40B4-BE49-F238E27FC236}">
                <a16:creationId xmlns:a16="http://schemas.microsoft.com/office/drawing/2014/main" id="{332469A9-C195-8060-DF5D-9D1E8C6AFDF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13530" y="3686046"/>
            <a:ext cx="2759883" cy="1292862"/>
          </a:xfrm>
          <a:prstGeom prst="rect">
            <a:avLst/>
          </a:prstGeom>
        </p:spPr>
      </p:pic>
      <p:pic>
        <p:nvPicPr>
          <p:cNvPr id="17" name="-_aEKMgITGo_000000_000010">
            <a:hlinkClick r:id="" action="ppaction://media"/>
            <a:extLst>
              <a:ext uri="{FF2B5EF4-FFF2-40B4-BE49-F238E27FC236}">
                <a16:creationId xmlns:a16="http://schemas.microsoft.com/office/drawing/2014/main" id="{844349B5-8259-9123-09A4-04BD6B8DDDBB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85040" y="1291319"/>
            <a:ext cx="2569026" cy="1570410"/>
          </a:xfrm>
          <a:prstGeom prst="rect">
            <a:avLst/>
          </a:prstGeom>
        </p:spPr>
      </p:pic>
      <p:pic>
        <p:nvPicPr>
          <p:cNvPr id="18" name="-_0RTq7fzM8_000160_000170">
            <a:hlinkClick r:id="" action="ppaction://media"/>
            <a:extLst>
              <a:ext uri="{FF2B5EF4-FFF2-40B4-BE49-F238E27FC236}">
                <a16:creationId xmlns:a16="http://schemas.microsoft.com/office/drawing/2014/main" id="{9F7842DF-7E62-E1CC-C269-A9A8C18238C0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2973413" y="3660626"/>
            <a:ext cx="2562052" cy="1292862"/>
          </a:xfrm>
          <a:prstGeom prst="rect">
            <a:avLst/>
          </a:prstGeom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708BA2F6-CEC5-939C-A07A-A23BD661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040" y="2861729"/>
            <a:ext cx="3321745" cy="189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83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0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05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4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40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 mute="1">
                <p:cTn id="4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流水线总览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943600" y="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2344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物理质量评分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SOMA CSV 动捕文件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转换为 qpos/qvel 格式 (36维)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MJX 批量计算 6 项物理指标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加权求和得到综合评分 (0-100)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011680"/>
            <a:ext cx="411480" cy="411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92040" y="109728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92040" y="1097280"/>
            <a:ext cx="3794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74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66928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阈值过滤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74920" y="1874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设定评分阈值 (默认 ≥ 90 分)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筛选通过阈值的动作文件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输出到 csv_filtered 目录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评分结果保存为 JSON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152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原始动捕文件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108960" y="3931920"/>
            <a:ext cx="18288" cy="731520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34747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项</a:t>
            </a:r>
            <a:endParaRPr lang="en-US" sz="3200" dirty="0"/>
          </a:p>
        </p:txBody>
      </p:sp>
      <p:sp>
        <p:nvSpPr>
          <p:cNvPr id="22" name="Text 18"/>
          <p:cNvSpPr/>
          <p:nvPr/>
        </p:nvSpPr>
        <p:spPr>
          <a:xfrm>
            <a:off x="347472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物理检测指标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852160" y="3931920"/>
            <a:ext cx="18288" cy="731520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793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621792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通过过滤 (39.2%)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数据格式与转换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03520" y="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CSV → QPOS / QVEL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54864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CSV 输入格式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347472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root_translate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根位置 (cm)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root_rotate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欧拉角 XYZ (°)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*_dof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关节角度 (°)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采样频率: 30 Hz  ·  单位: 厘米 / 度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103120"/>
            <a:ext cx="411480" cy="4114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5488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754880" y="1051560"/>
            <a:ext cx="54864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9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qpos / qvel 内部格式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qpos (36维) = pos(3) + quat(4) + joints(29)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029200" y="2103120"/>
            <a:ext cx="33832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3"/>
          <p:cNvSpPr/>
          <p:nvPr/>
        </p:nvSpPr>
        <p:spPr>
          <a:xfrm>
            <a:off x="502920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qvel (35维) = lin_vel(3) + ang_vel(3) + jnt_vel(29)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0" y="26060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位置: cm → m (×0.01)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旋转: 欧拉角 → 四元数 (xyzw)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角度: 度 → 弧度 (×π/180)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速度: 数值微分 (Δq / Δt)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2452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114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转换后数据直接用于 MJX 物理仿真引擎，在 GPU 上进行批量并行评分计算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六项物理质量检测指标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0" y="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QUALITY METRICS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25146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2984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足部滑动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1490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Sliding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接触地面时踝部线速度 &gt; 0.1 m/s 的滑动量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86000" y="2331720"/>
            <a:ext cx="5486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46120" y="10515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46120" y="1051560"/>
            <a:ext cx="2514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3"/>
          <p:cNvSpPr/>
          <p:nvPr/>
        </p:nvSpPr>
        <p:spPr>
          <a:xfrm>
            <a:off x="3383280" y="1234440"/>
            <a:ext cx="411480" cy="41148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2984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8620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速度违规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886200" y="1490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Violation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38328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关节角速度超出硬件限制的平均超限值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74920" y="2331720"/>
            <a:ext cx="548640" cy="22860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07492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×5.0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35040" y="10515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1051560"/>
            <a:ext cx="2514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1"/>
          <p:cNvSpPr/>
          <p:nvPr/>
        </p:nvSpPr>
        <p:spPr>
          <a:xfrm>
            <a:off x="6172200" y="1234440"/>
            <a:ext cx="411480" cy="4114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2984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7512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自碰撞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675120" y="1490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Collision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17220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非地面接触碰撞对数量 (排除地面)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863840" y="2331720"/>
            <a:ext cx="5486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786384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292608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" y="2926080"/>
            <a:ext cx="2514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29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17296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972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急动度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097280" y="3364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Jerk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5943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加速度范数 (速度变化的平滑度指标)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2286000" y="4206240"/>
            <a:ext cx="54864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2286000" y="4206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×0.01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246120" y="292608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246120" y="2926080"/>
            <a:ext cx="2514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Shape 37"/>
          <p:cNvSpPr/>
          <p:nvPr/>
        </p:nvSpPr>
        <p:spPr>
          <a:xfrm>
            <a:off x="3383280" y="3108960"/>
            <a:ext cx="411480" cy="4114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3172968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8862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穿透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3886200" y="3364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338328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身体部位穿透地面 &gt; 0.01m 的深度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074920" y="4206240"/>
            <a:ext cx="54864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0" name="Text 42"/>
          <p:cNvSpPr/>
          <p:nvPr/>
        </p:nvSpPr>
        <p:spPr>
          <a:xfrm>
            <a:off x="5074920" y="4206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×10.0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6035040" y="292608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6035040" y="2926080"/>
            <a:ext cx="2514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Shape 45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3172968"/>
            <a:ext cx="274320" cy="27432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6751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悬空</a:t>
            </a:r>
            <a:endParaRPr lang="en-US" sz="1300" dirty="0"/>
          </a:p>
        </p:txBody>
      </p:sp>
      <p:sp>
        <p:nvSpPr>
          <p:cNvPr id="56" name="Text 47"/>
          <p:cNvSpPr/>
          <p:nvPr/>
        </p:nvSpPr>
        <p:spPr>
          <a:xfrm>
            <a:off x="6675120" y="3364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617220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1秒窗口内持续离地 &gt; 0.05m 的帧比例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7863840" y="4206240"/>
            <a:ext cx="5486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9" name="Text 50"/>
          <p:cNvSpPr/>
          <p:nvPr/>
        </p:nvSpPr>
        <p:spPr>
          <a:xfrm>
            <a:off x="7863840" y="4206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×200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权重反映各项指标对动作质量的相对重要程度 — 悬空检测权重最高 (×200)，急动度权重最低 (×0.01)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max(0, 100 − Σ wi × metric_i 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06040"/>
            <a:ext cx="457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足部滑动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基础优先级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606040"/>
            <a:ext cx="4572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速度违规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×5.0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9184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自碰撞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2918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29184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急动度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可忽略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3291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×0.01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977640"/>
            <a:ext cx="457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允许软穿透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977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×10.0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977640"/>
            <a:ext cx="4572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悬空帧比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最高优先级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3977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×200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分数范围 0-100  ·  默认过滤阈值 ≥ 90 分  ·  分数越高表示动作物理可行性越好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 加速与并行架构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0" y="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/ MJX MULTI-GPU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JIT 编译 + vmap 批量化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即时编译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compute_clip_metrics_jit 使用 @jax.jit 装饰器，将整帧计算编译为优化的 XLA 内核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vmap 自动向量化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jax.vmap 将单帧计算自动扩展到整段动作序列，无需手动编写批处理循环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分块处理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512 帧为一个计算块，边缘填充 + 掩码机制确保变长动作的正确处理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54864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GPU 并行处理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0" y="1691640"/>
            <a:ext cx="3383280" cy="4572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0" y="169164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22376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文件子集 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29200" y="2286000"/>
            <a:ext cx="3383280" cy="45720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0" y="2286000"/>
            <a:ext cx="457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2376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文件子集 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0" y="2880360"/>
            <a:ext cx="3383280" cy="4572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0" y="2880360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52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2376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文件子集 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自动检测可用 GPU 数量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文件均匀分配到各 GPU 工作进程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失败文件自动在 GPU 0 上串行恢复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定期保存中间结果，支持断点续评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500 个文件自动 GC  ·  交错启动避免资源竞争  ·  信号处理支持优雅终止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45720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214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34640" y="2011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2,023 个动捕文件自动评分，筛选出 793 个高质量动作片段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6974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697480"/>
            <a:ext cx="45720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80720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加速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34640" y="2697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JAX/MJX 的批量物理仿真，多 GPU 并行处理大幅提升效率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383280"/>
            <a:ext cx="45720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930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全面评估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834640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项物理指标加权评分，覆盖滑动、碰撞、穿透、悬空等关键维度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069080"/>
            <a:ext cx="45720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17880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健壮可靠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834640" y="4069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断点续评、失败恢复、原子保存，确保大规模数据处理稳定运行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G1  ·  SONIC Policy  ·  MuJoCo MJX  ·  Physics-Based Filtering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511</Words>
  <Application>Microsoft Office PowerPoint</Application>
  <PresentationFormat>全屏显示(16:9)</PresentationFormat>
  <Paragraphs>170</Paragraphs>
  <Slides>9</Slides>
  <Notes>9</Notes>
  <HiddenSlides>0</HiddenSlides>
  <MMClips>4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动捕数据物理质量评分与过滤</dc:title>
  <dc:subject>PptxGenJS Presentation</dc:subject>
  <dc:creator>Mocap Pipeline</dc:creator>
  <cp:lastModifiedBy>鸣 雷</cp:lastModifiedBy>
  <cp:revision>2</cp:revision>
  <dcterms:created xsi:type="dcterms:W3CDTF">2026-07-02T14:41:33Z</dcterms:created>
  <dcterms:modified xsi:type="dcterms:W3CDTF">2026-07-02T15:35:33Z</dcterms:modified>
</cp:coreProperties>
</file>